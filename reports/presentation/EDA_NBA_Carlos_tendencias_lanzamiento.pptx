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31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nb_images/cell47_out0.png"/>
          <p:cNvPicPr>
            <a:picLocks noChangeAspect="1"/>
          </p:cNvPicPr>
          <p:nvPr/>
        </p:nvPicPr>
        <p:blipFill>
          <a:blip r:embed="rId3"/>
          <a:srcRect l="6191" r="6191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0B0F14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96012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muerte del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mid-range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8368" y="26060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AB4C0"/>
                </a:solidFill>
              </a:rPr>
              <a:t>EDA NBA · Distribución espacial de lanzamientos y evolución del shot profile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37490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524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858768"/>
            <a:ext cx="47457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Pregunta guía: ¿por qué la NBA ha desplazado tiros desde la media distancia hacia el triple y el aro?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7182"/>
                </a:solidFill>
              </a:rPr>
              <a:t>Carlos Sancho · Rama: tendencias de lanzamiento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y enfoque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De coordenadas de tiro a una narrativa de eficiencia ofensiva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1508760"/>
            <a:ext cx="557784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• Extraer tiros reales con nba_api y representar sus coordenadas LOC_X / LOC_Y.
• Clasificar cada lanzamiento en Rim, Mid-range o Three para medir volumen y productividad.
• Comparar cuatro equipos representativos de distintas etapas: Bulls 97-98, Lakers 00-01, Warriors 15-16 y Celtics 23-24.
• Usar una métrica sencilla de Moreyball: porcentaje de tiros en aro + triple.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4956048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524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65776"/>
            <a:ext cx="5248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Pipeline: datos → zonas → puntos por intento → evolución</a:t>
            </a:r>
            <a:endParaRPr lang="en-US" sz="1500" dirty="0"/>
          </a:p>
        </p:txBody>
      </p:sp>
      <p:pic>
        <p:nvPicPr>
          <p:cNvPr id="8" name="Image 0" descr="/mnt/data/extracted_nb_images/cell3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257" y="1325880"/>
            <a:ext cx="4619766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base: Boston Celtics 2023-24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Validación del pipeline y primer indicador de baloncesto moderno</a:t>
            </a:r>
            <a:endParaRPr lang="en-US" sz="1150" dirty="0"/>
          </a:p>
        </p:txBody>
      </p:sp>
      <p:pic>
        <p:nvPicPr>
          <p:cNvPr id="5" name="Image 0" descr="/mnt/data/extracted_nb_images/cell1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1" y="1417320"/>
            <a:ext cx="5150498" cy="3657600"/>
          </a:xfrm>
          <a:prstGeom prst="rect">
            <a:avLst/>
          </a:prstGeom>
        </p:spPr>
      </p:pic>
      <p:pic>
        <p:nvPicPr>
          <p:cNvPr id="6" name="Image 1" descr="/mnt/data/extracted_nb_images/cell23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691" y="1417320"/>
            <a:ext cx="5150498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" y="534009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47,1%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804672" y="5749747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4C0"/>
                </a:solidFill>
              </a:rPr>
              <a:t>de sus lanzamientos fueron triples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999232" y="534009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37,7%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2999232" y="5749747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4C0"/>
                </a:solidFill>
              </a:rPr>
              <a:t>se concentraron cerca del aro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212080" y="534009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15,3%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5212080" y="5749747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4C0"/>
                </a:solidFill>
              </a:rPr>
              <a:t>solo fueron de media distancia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543800" y="52852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Lectura: un equipo campeón reciente concentra el volumen en triple y aro. Además, el mid-range produce menos puntos por intento que las otras dos zonas en este caso.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Comparativa histórica: el shot profile cambia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El peso del triple crece, mientras la media distancia cae de forma sostenida</a:t>
            </a:r>
            <a:endParaRPr lang="en-US" sz="1150" dirty="0"/>
          </a:p>
        </p:txBody>
      </p:sp>
      <p:pic>
        <p:nvPicPr>
          <p:cNvPr id="5" name="Image 0" descr="/mnt/data/extracted_nb_images/cell4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2296"/>
            <a:ext cx="5577840" cy="3321889"/>
          </a:xfrm>
          <a:prstGeom prst="rect">
            <a:avLst/>
          </a:prstGeom>
        </p:spPr>
      </p:pic>
      <p:pic>
        <p:nvPicPr>
          <p:cNvPr id="6" name="Image 1" descr="/mnt/data/extracted_nb_images/cell56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92158"/>
            <a:ext cx="5577840" cy="334216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8680" y="525780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524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3272" y="536752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Media distancia: 46,0% → 15,3%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160520" y="525780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524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25112" y="536752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Triple: 14,1% → 47,1%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543800" y="519379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4C0"/>
                </a:solidFill>
              </a:rPr>
              <a:t>La comparación no pretende cubrir toda la liga: utiliza equipos representativos para mostrar la transición de estilos ofensivos entre épocas.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explicación: productividad por lanzamiento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La selección moderna prioriza zonas con más puntos por intento</a:t>
            </a:r>
            <a:endParaRPr lang="en-US" sz="1150" dirty="0"/>
          </a:p>
        </p:txBody>
      </p:sp>
      <p:pic>
        <p:nvPicPr>
          <p:cNvPr id="5" name="Image 0" descr="/mnt/data/extracted_nb_images/cell4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9822"/>
            <a:ext cx="6537960" cy="3889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4173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Puntos por intento =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% de acierto observado × valor del tiro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35240" y="2788920"/>
            <a:ext cx="365760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El tiro cerca del aro mantiene un rendimiento alto por su porcentaje de acierto.
• El triple compensa menor acierto al valer 3 puntos.
• La media distancia queda como zona menos productiva en la muestra.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35240" y="5074920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0F172A"/>
          </a:solidFill>
          <a:ln w="15240">
            <a:solidFill>
              <a:srgbClr val="FACC15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9832" y="518464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Conclusión: el cambio no es solo estético; responde a productividad observada.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Visualización espacial: la pista cuenta la historia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Al quitar acierto/fallo, se ve con más claridad de dónde sale el volumen de tiro</a:t>
            </a:r>
            <a:endParaRPr lang="en-US" sz="1150" dirty="0"/>
          </a:p>
        </p:txBody>
      </p:sp>
      <p:pic>
        <p:nvPicPr>
          <p:cNvPr id="5" name="Image 0" descr="/mnt/data/extracted_nb_images/cell47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40" y="1417320"/>
            <a:ext cx="446336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2179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AAB4C0"/>
                </a:solidFill>
              </a:rPr>
              <a:t>Lectura visual: Bulls y Lakers reparten más volumen en zonas intermedias; Warriors y Celtics dibujan con más fuerza el arco de triple y la zona restringida.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Densidad: el patrón se ve aún mejor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Escala logarítmica para que el aro no oculte el resto de la pista</a:t>
            </a:r>
            <a:endParaRPr lang="en-US" sz="1150" dirty="0"/>
          </a:p>
        </p:txBody>
      </p:sp>
      <p:pic>
        <p:nvPicPr>
          <p:cNvPr id="5" name="Image 0" descr="/mnt/data/extracted_nb_images/cell49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38" y="1417320"/>
            <a:ext cx="4748285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¿Por qué escala logarítmica?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02752" y="1965960"/>
            <a:ext cx="33375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• Comprime valores extremos de densidad.
• Evita que el aro domine toda la escala de color.
• Permite ver patrones relevantes en triple y media distancia.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75320" y="4297680"/>
            <a:ext cx="3429000" cy="987552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524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912" y="4407408"/>
            <a:ext cx="3099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La evolución moderna no elimina el aro: lo combina con mucho más triple.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Moreyball Rate: una métrica sencilla para resumir el cambio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Moreyball Rate = % tiros en aro + % tiros de tres</a:t>
            </a:r>
            <a:endParaRPr lang="en-US" sz="1150" dirty="0"/>
          </a:p>
        </p:txBody>
      </p:sp>
      <p:pic>
        <p:nvPicPr>
          <p:cNvPr id="5" name="Image 0" descr="/mnt/data/extracted_nb_images/cell59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2089"/>
            <a:ext cx="6126480" cy="36709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417320"/>
            <a:ext cx="1874520" cy="429768"/>
          </a:xfrm>
          <a:prstGeom prst="rect">
            <a:avLst/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5270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8FAFC"/>
                </a:solidFill>
              </a:rPr>
              <a:t>Equipo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823960" y="1417320"/>
            <a:ext cx="914400" cy="429768"/>
          </a:xfrm>
          <a:prstGeom prst="rect">
            <a:avLst/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1527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Mid-range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738360" y="1417320"/>
            <a:ext cx="914400" cy="429768"/>
          </a:xfrm>
          <a:prstGeom prst="rect">
            <a:avLst/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0" y="1527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Triple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652760" y="1417320"/>
            <a:ext cx="1097280" cy="429768"/>
          </a:xfrm>
          <a:prstGeom prst="rect">
            <a:avLst/>
          </a:prstGeom>
          <a:solidFill>
            <a:srgbClr val="172033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98480" y="1527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Moreyball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49440" y="1847088"/>
            <a:ext cx="18745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19568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AAB4C0"/>
                </a:solidFill>
              </a:rPr>
              <a:t>Bulls 1997-98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823960" y="1847088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0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46,0%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9738360" y="1847088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0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14,1%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10652760" y="1847088"/>
            <a:ext cx="109728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98480" y="1956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54,0%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949440" y="2276856"/>
            <a:ext cx="18745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23865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AAB4C0"/>
                </a:solidFill>
              </a:rPr>
              <a:t>Lakers 2000-01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823960" y="2276856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69680" y="2386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36,6%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738360" y="2276856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84080" y="2386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19,1%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10652760" y="2276856"/>
            <a:ext cx="109728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98480" y="2386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63,4%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6949440" y="2706624"/>
            <a:ext cx="18745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95160" y="2816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AAB4C0"/>
                </a:solidFill>
              </a:rPr>
              <a:t>Warriors 2015-16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8823960" y="2706624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69680" y="2816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22,8%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9738360" y="2706624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784080" y="2816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36,2%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10652760" y="2706624"/>
            <a:ext cx="109728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698480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77,2%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6949440" y="3136392"/>
            <a:ext cx="187452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95160" y="3246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AAB4C0"/>
                </a:solidFill>
              </a:rPr>
              <a:t>Celtics 2023-24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8823960" y="3136392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86968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15,3%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9738360" y="3136392"/>
            <a:ext cx="91440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78408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47,1%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10652760" y="3136392"/>
            <a:ext cx="1097280" cy="4297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98480" y="3246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4C0"/>
                </a:solidFill>
              </a:rPr>
              <a:t>84,7%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6949440" y="4023360"/>
            <a:ext cx="480060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5240">
            <a:solidFill>
              <a:srgbClr val="FACC15">
                <a:alpha val="8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14032" y="4133088"/>
            <a:ext cx="4471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 Bulls a Celtics, la combinación aro + triple sube de 54% a 85%.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949440" y="51663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AB4C0"/>
                </a:solidFill>
              </a:rPr>
              <a:t>Interpretación: el ataque moderno no solo tira más de tres; reduce drásticamente el peso relativo de la media distancia.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54864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</a:rPr>
              <a:t>EDA NBA · Shot Charts · Carlos Sancho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de la rama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59536"/>
            <a:ext cx="21031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50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4C0"/>
                </a:solidFill>
              </a:rPr>
              <a:t>La norma general queda clara; la excepción abre la puerta a la rama de outliers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47472" cy="34747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307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El mid-range pierde peso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1719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AAB4C0"/>
                </a:solidFill>
              </a:rPr>
              <a:t>En la muestra, cae del 46,0% en Bulls 97-98 al 15,3% en Celtics 23-24.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1234440" y="2203704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347472" cy="34747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78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El triple se convierte en eje ofensivo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28895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AAB4C0"/>
                </a:solidFill>
              </a:rPr>
              <a:t>Warriors 15-16 acelera la transición y Celtics 23-24 representa un perfil moderno más extremo.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1234440" y="3374136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66744"/>
            <a:ext cx="347472" cy="34747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48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La eficiencia explica la tendencia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40599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AAB4C0"/>
                </a:solidFill>
              </a:rPr>
              <a:t>Aro y triple producen más puntos por intento que la media distancia en los equipos analizados.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1234440" y="4544568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37176"/>
            <a:ext cx="347472" cy="347472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El mid-range no muere: se especializa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34440" y="52303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AAB4C0"/>
                </a:solidFill>
              </a:rPr>
              <a:t>La conclusión conecta con la rama de outliers: jugadores élite pueden seguir explotándolo con eficiencia.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1234440" y="5715000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61447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657182"/>
                </a:solidFill>
              </a:rPr>
              <a:t>Limitación: el análisis compara equipos representativos, no todas las temporadas de la NBA. La clasificación Rim / Mid-range / Three es una simplificación útil para el EDA.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784</Words>
  <Application>Microsoft Office PowerPoint</Application>
  <PresentationFormat>Panorámica</PresentationFormat>
  <Paragraphs>91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The 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muerte del mid-range</dc:title>
  <dc:subject>EDA NBA shot charts</dc:subject>
  <dc:creator>Carlos Sancho</dc:creator>
  <cp:lastModifiedBy>Carlos Sancho</cp:lastModifiedBy>
  <cp:revision>1</cp:revision>
  <dcterms:created xsi:type="dcterms:W3CDTF">2026-05-16T07:39:53Z</dcterms:created>
  <dcterms:modified xsi:type="dcterms:W3CDTF">2026-05-16T07:47:54Z</dcterms:modified>
</cp:coreProperties>
</file>